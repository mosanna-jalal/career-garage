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2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206240" cy="4206240"/>
          </a:xfrm>
          <a:prstGeom prst="ellipse">
            <a:avLst/>
          </a:prstGeom>
          <a:solidFill>
            <a:srgbClr val="1A4546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-822960"/>
            <a:ext cx="3108960" cy="3108960"/>
          </a:xfrm>
          <a:prstGeom prst="ellipse">
            <a:avLst/>
          </a:prstGeom>
          <a:solidFill>
            <a:srgbClr val="1C6867"/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4754880"/>
            <a:ext cx="3474720" cy="3474720"/>
          </a:xfrm>
          <a:prstGeom prst="ellipse">
            <a:avLst/>
          </a:prstGeom>
          <a:solidFill>
            <a:srgbClr val="1A4546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847088"/>
            <a:ext cx="822960" cy="128016"/>
          </a:xfrm>
          <a:prstGeom prst="rect">
            <a:avLst/>
          </a:prstGeom>
          <a:solidFill>
            <a:srgbClr val="FE471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057400"/>
            <a:ext cx="10058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Career</a:t>
            </a:r>
            <a:pPr indent="0" marL="0">
              <a:buNone/>
            </a:pPr>
            <a:r>
              <a:rPr lang="en-US" sz="6000" b="1" dirty="0">
                <a:solidFill>
                  <a:srgbClr val="45BDB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Garage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40080" y="31546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9D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Understand yourself. Build a life that fits.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3886200"/>
            <a:ext cx="9601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7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complete personality &amp; career assessment platform: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7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interactive tests · 25 rich type profiles · live results analytics · B2B team tools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5806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B70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DEMO  ·  PREPARED BY MOSANNA JALAL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109728"/>
          </a:xfrm>
          <a:prstGeom prst="rect">
            <a:avLst/>
          </a:prstGeom>
          <a:solidFill>
            <a:srgbClr val="FE471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personality assessment?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908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0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product category with proven, durable demand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Career Garage — Personality &amp; Career Assessment Platform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0232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57607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Self-insight is evergreen: people turn to personality tests at every life transition — first job, career change, new team, new relationship.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Companies buy it too: HR and team leads use assessments for onboarding, team building, and management coaching.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 flywheel: assessment results and type profiles generate highly shareable, search-friendly content that brings users back.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delivery cost: a well-built platform serves each additional user at nearly zero marginal cost.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0" y="1920240"/>
            <a:ext cx="4663440" cy="1234440"/>
          </a:xfrm>
          <a:prstGeom prst="roundRect">
            <a:avLst>
              <a:gd name="adj" fmla="val 6667"/>
            </a:avLst>
          </a:prstGeom>
          <a:solidFill>
            <a:srgbClr val="EFFCFA"/>
          </a:solidFill>
          <a:ln w="12700">
            <a:solidFill>
              <a:srgbClr val="D7F5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59168" y="2066544"/>
            <a:ext cx="4261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68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Consumer pull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059168" y="2450592"/>
            <a:ext cx="42611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Millions search for personality tests every month — type frameworks are part of everyday vocabulary.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0" y="3310128"/>
            <a:ext cx="4663440" cy="1234440"/>
          </a:xfrm>
          <a:prstGeom prst="roundRect">
            <a:avLst>
              <a:gd name="adj" fmla="val 6667"/>
            </a:avLst>
          </a:prstGeom>
          <a:solidFill>
            <a:srgbClr val="FAF7F2"/>
          </a:solidFill>
          <a:ln w="12700">
            <a:solidFill>
              <a:srgbClr val="F0E8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59168" y="3456432"/>
            <a:ext cx="4261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68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pull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59168" y="3840480"/>
            <a:ext cx="42611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Teams pay recurring subscriptions for collaboration insights, manager playbooks, and workshop tools.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0" y="4700016"/>
            <a:ext cx="4663440" cy="1234440"/>
          </a:xfrm>
          <a:prstGeom prst="roundRect">
            <a:avLst>
              <a:gd name="adj" fmla="val 6667"/>
            </a:avLst>
          </a:prstGeom>
          <a:solidFill>
            <a:srgbClr val="FFE4D4"/>
          </a:solidFill>
          <a:ln w="12700">
            <a:solidFill>
              <a:srgbClr val="FFC5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59168" y="4846320"/>
            <a:ext cx="4261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E47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gap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059168" y="5230368"/>
            <a:ext cx="42611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 competitors gate results behind email walls and paywalls. A generous free layer is a differentiator.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109728"/>
          </a:xfrm>
          <a:prstGeom prst="rect">
            <a:avLst/>
          </a:prstGeom>
          <a:solidFill>
            <a:srgbClr val="FE471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Career Garage at a glance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908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0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is live today — this is a working product, not a mock-up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Career Garage — Personality &amp; Career Assessment Platform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0232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2521458" cy="2286000"/>
          </a:xfrm>
          <a:prstGeom prst="roundRect">
            <a:avLst>
              <a:gd name="adj" fmla="val 3600"/>
            </a:avLst>
          </a:prstGeom>
          <a:solidFill>
            <a:srgbClr val="EFFCFA"/>
          </a:solidFill>
          <a:ln w="12700">
            <a:solidFill>
              <a:srgbClr val="D7F5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112264"/>
            <a:ext cx="211912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68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Assessments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2496312"/>
            <a:ext cx="2119122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Interactive, scored quizzes across personality, career, and relationships. All free to take, results shown instantly.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35858" y="1965960"/>
            <a:ext cx="2521458" cy="2286000"/>
          </a:xfrm>
          <a:prstGeom prst="roundRect">
            <a:avLst>
              <a:gd name="adj" fmla="val 3600"/>
            </a:avLst>
          </a:prstGeom>
          <a:solidFill>
            <a:srgbClr val="EFFCFA"/>
          </a:solidFill>
          <a:ln w="12700">
            <a:solidFill>
              <a:srgbClr val="D7F5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7026" y="2112264"/>
            <a:ext cx="211912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68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 Type Profiles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37026" y="2496312"/>
            <a:ext cx="2119122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 four-letter personality types + 9 Enneagram types, each with strengths, growth edges, and career matches.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31636" y="1965960"/>
            <a:ext cx="2521458" cy="2286000"/>
          </a:xfrm>
          <a:prstGeom prst="roundRect">
            <a:avLst>
              <a:gd name="adj" fmla="val 3600"/>
            </a:avLst>
          </a:prstGeom>
          <a:solidFill>
            <a:srgbClr val="EFFCFA"/>
          </a:solidFill>
          <a:ln w="12700">
            <a:solidFill>
              <a:srgbClr val="D7F5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32804" y="2112264"/>
            <a:ext cx="211912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68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Insight Content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32804" y="2496312"/>
            <a:ext cx="2119122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Long-form articles on careers, teams, and relationships — every piece funnels readers into a test.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27414" y="1965960"/>
            <a:ext cx="2521458" cy="2286000"/>
          </a:xfrm>
          <a:prstGeom prst="roundRect">
            <a:avLst>
              <a:gd name="adj" fmla="val 3600"/>
            </a:avLst>
          </a:prstGeom>
          <a:solidFill>
            <a:srgbClr val="EFFCFA"/>
          </a:solidFill>
          <a:ln w="12700">
            <a:solidFill>
              <a:srgbClr val="D7F5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28582" y="2112264"/>
            <a:ext cx="211912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68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&amp; B2B Tools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28582" y="2496312"/>
            <a:ext cx="2119122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dedicated offering for managers with team maps, playbooks, and a three-tier subscription model.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617720"/>
            <a:ext cx="10908792" cy="1280160"/>
          </a:xfrm>
          <a:prstGeom prst="roundRect">
            <a:avLst>
              <a:gd name="adj" fmla="val 6429"/>
            </a:avLst>
          </a:prstGeom>
          <a:solidFill>
            <a:srgbClr val="09272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773168"/>
            <a:ext cx="27271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5BDB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46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77240" y="5285232"/>
            <a:ext cx="24528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pages &amp; routes, pre-rendered for speed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67278" y="4773168"/>
            <a:ext cx="27271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5BDB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~10 min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3504438" y="5285232"/>
            <a:ext cx="24528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first question to full results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094476" y="4773168"/>
            <a:ext cx="27271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5BDB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231636" y="5285232"/>
            <a:ext cx="24528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sign-ups required to see results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821674" y="4773168"/>
            <a:ext cx="27271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5BDB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8958834" y="5285232"/>
            <a:ext cx="24528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mobile-responsive, animated UI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109728"/>
          </a:xfrm>
          <a:prstGeom prst="rect">
            <a:avLst/>
          </a:prstGeom>
          <a:solidFill>
            <a:srgbClr val="FE471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assessment library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908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0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Seven distinct tests covering the three questions people care about most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Career Garage — Personality &amp; Career Assessment Platform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0232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90879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5605272"/>
                <a:gridCol w="822960"/>
                <a:gridCol w="11887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Assessment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5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it reveals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5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5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Time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54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Personality Type Assessment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Your four-letter type across 4 classic dimensions → one of 16 full profiles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 min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Enneagram Test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Your center of intelligence (Head / Heart / Body) and the types within it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 min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C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Big Five Personality Test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Scores on the 5 dimensions used most widely in academic psychology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 min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Career Interest Explorer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Your top two of six work themes, with matching career families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 min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C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Workstyle Compass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Your working style: Driver, Energizer, Anchor, or Analyst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 min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Love Styles Test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C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How you give and want to receive care in close relationships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 min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C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Leadership Blueprint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Your default leadership mode: Visionary, Coach, Operator, or Diplomat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 min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109728"/>
          </a:xfrm>
          <a:prstGeom prst="rect">
            <a:avLst/>
          </a:prstGeom>
          <a:solidFill>
            <a:srgbClr val="FE471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interactive quiz engine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908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0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frictionless flow designed to be finished, not abandoned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Career Garage — Personality &amp; Career Assessment Platform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0232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984248"/>
            <a:ext cx="457200" cy="457200"/>
          </a:xfrm>
          <a:prstGeom prst="ellipse">
            <a:avLst/>
          </a:prstGeom>
          <a:solidFill>
            <a:srgbClr val="1E828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84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25880" y="1874520"/>
            <a:ext cx="5669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  —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70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statement at a time on a 5-point agree/disagree scale. Auto-advance keeps momentum; back/next allows revisiting.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008376"/>
            <a:ext cx="457200" cy="457200"/>
          </a:xfrm>
          <a:prstGeom prst="ellipse">
            <a:avLst/>
          </a:prstGeom>
          <a:solidFill>
            <a:srgbClr val="1E828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0083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25880" y="2898648"/>
            <a:ext cx="5669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Progress  —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70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live progress bar and question counter — users always know how close they are to results.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032504"/>
            <a:ext cx="457200" cy="457200"/>
          </a:xfrm>
          <a:prstGeom prst="ellipse">
            <a:avLst/>
          </a:prstGeom>
          <a:solidFill>
            <a:srgbClr val="1E828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0325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25880" y="3922776"/>
            <a:ext cx="5669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  —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70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Scoring runs instantly in the browser the moment the last answer lands. No waiting, no processing screen.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056632"/>
            <a:ext cx="457200" cy="457200"/>
          </a:xfrm>
          <a:prstGeom prst="ellipse">
            <a:avLst/>
          </a:prstGeom>
          <a:solidFill>
            <a:srgbClr val="1E828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056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25880" y="4946904"/>
            <a:ext cx="5669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  —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70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animated results page with headline outcome, full percentage breakdown, and a one-click retake.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406640" y="1874520"/>
            <a:ext cx="4114800" cy="4069080"/>
          </a:xfrm>
          <a:prstGeom prst="roundRect">
            <a:avLst>
              <a:gd name="adj" fmla="val 2022"/>
            </a:avLst>
          </a:prstGeom>
          <a:solidFill>
            <a:srgbClr val="09272A"/>
          </a:solidFill>
          <a:ln/>
        </p:spPr>
      </p:sp>
      <p:sp>
        <p:nvSpPr>
          <p:cNvPr id="20" name="Text 18"/>
          <p:cNvSpPr/>
          <p:nvPr/>
        </p:nvSpPr>
        <p:spPr>
          <a:xfrm>
            <a:off x="7680960" y="2103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5BDB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it converts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680960" y="2560320"/>
            <a:ext cx="361188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D7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account or email wall — zero drop-off at the door</a:t>
            </a:r>
            <a:endParaRPr lang="en-US" sz="120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D7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Short, plainly written questions (6–10 minutes total)</a:t>
            </a:r>
            <a:endParaRPr lang="en-US" sz="120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D7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 fully offline; database stats are additive, not required</a:t>
            </a:r>
            <a:endParaRPr lang="en-US" sz="120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D7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Ends on a curiosity hook: a profile page to keep exploring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109728"/>
          </a:xfrm>
          <a:prstGeom prst="rect">
            <a:avLst/>
          </a:prstGeom>
          <a:solidFill>
            <a:srgbClr val="FE471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 people screenshot and share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908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0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test ends in a rich, visual, personal result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Career Garage — Personality &amp; Career Assessment Platform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0232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4937760" cy="4114800"/>
          </a:xfrm>
          <a:prstGeom prst="roundRect">
            <a:avLst>
              <a:gd name="adj" fmla="val 2000"/>
            </a:avLst>
          </a:prstGeom>
          <a:solidFill>
            <a:srgbClr val="EFFCFA"/>
          </a:solidFill>
          <a:ln w="12700">
            <a:solidFill>
              <a:srgbClr val="D7F5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488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E8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FOUR-LETTER TYPE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INFJ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68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Visionary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37398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Introverted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60320" y="3813048"/>
            <a:ext cx="2286000" cy="164592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9525">
            <a:solidFill>
              <a:srgbClr val="D7F5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0" y="3813048"/>
            <a:ext cx="1783080" cy="164592"/>
          </a:xfrm>
          <a:prstGeom prst="roundRect">
            <a:avLst>
              <a:gd name="adj" fmla="val 27778"/>
            </a:avLst>
          </a:prstGeom>
          <a:solidFill>
            <a:srgbClr val="1E8280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73989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0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78%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05840" y="42428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Intuitive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560320" y="4315968"/>
            <a:ext cx="2286000" cy="164592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9525">
            <a:solidFill>
              <a:srgbClr val="D7F5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0" y="4315968"/>
            <a:ext cx="1508760" cy="164592"/>
          </a:xfrm>
          <a:prstGeom prst="roundRect">
            <a:avLst>
              <a:gd name="adj" fmla="val 27778"/>
            </a:avLst>
          </a:prstGeom>
          <a:solidFill>
            <a:srgbClr val="1E8280"/>
          </a:solidFill>
          <a:ln/>
        </p:spPr>
      </p:sp>
      <p:sp>
        <p:nvSpPr>
          <p:cNvPr id="18" name="Text 16"/>
          <p:cNvSpPr/>
          <p:nvPr/>
        </p:nvSpPr>
        <p:spPr>
          <a:xfrm>
            <a:off x="4864608" y="4242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0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66%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05840" y="474573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Feeling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560320" y="4818888"/>
            <a:ext cx="2286000" cy="164592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9525">
            <a:solidFill>
              <a:srgbClr val="D7F5F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0" y="4818888"/>
            <a:ext cx="1623060" cy="164592"/>
          </a:xfrm>
          <a:prstGeom prst="roundRect">
            <a:avLst>
              <a:gd name="adj" fmla="val 27778"/>
            </a:avLst>
          </a:prstGeom>
          <a:solidFill>
            <a:srgbClr val="1E8280"/>
          </a:solidFill>
          <a:ln/>
        </p:spPr>
      </p:sp>
      <p:sp>
        <p:nvSpPr>
          <p:cNvPr id="22" name="Text 20"/>
          <p:cNvSpPr/>
          <p:nvPr/>
        </p:nvSpPr>
        <p:spPr>
          <a:xfrm>
            <a:off x="4864608" y="474573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0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71%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05840" y="524865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Judging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560320" y="5321808"/>
            <a:ext cx="2286000" cy="164592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9525">
            <a:solidFill>
              <a:srgbClr val="D7F5F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0" y="5321808"/>
            <a:ext cx="1325880" cy="164592"/>
          </a:xfrm>
          <a:prstGeom prst="roundRect">
            <a:avLst>
              <a:gd name="adj" fmla="val 27778"/>
            </a:avLst>
          </a:prstGeom>
          <a:solidFill>
            <a:srgbClr val="1E8280"/>
          </a:solidFill>
          <a:ln/>
        </p:spPr>
      </p:sp>
      <p:sp>
        <p:nvSpPr>
          <p:cNvPr id="26" name="Text 24"/>
          <p:cNvSpPr/>
          <p:nvPr/>
        </p:nvSpPr>
        <p:spPr>
          <a:xfrm>
            <a:off x="4864608" y="524865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0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58%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09360" y="1965960"/>
            <a:ext cx="52120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tests compute a real four-letter code and link straight to that type's full profile page.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Scale tests show a ranked, animated percentage breakdown with a headline result and plain-language explanation.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Social proof from live data: “You're one of N people who have taken this test” — counted from the production database.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results page cross-sells the next step: read your profile, try another test, or retake.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109728"/>
          </a:xfrm>
          <a:prstGeom prst="rect">
            <a:avLst/>
          </a:prstGeom>
          <a:solidFill>
            <a:srgbClr val="FE471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personality type explorer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908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0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 evergreen profile pages that work as landing pages in their own right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Career Garage — Personality &amp; Career Assessment Platform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0232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2521458" cy="1600200"/>
          </a:xfrm>
          <a:prstGeom prst="roundRect">
            <a:avLst>
              <a:gd name="adj" fmla="val 5143"/>
            </a:avLst>
          </a:prstGeom>
          <a:solidFill>
            <a:srgbClr val="EFFCFA"/>
          </a:solidFill>
          <a:ln w="12700">
            <a:solidFill>
              <a:srgbClr val="D7F5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11680"/>
            <a:ext cx="21556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68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359152"/>
            <a:ext cx="21556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47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INTJ · INTP · ENTJ · ENTP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697480"/>
            <a:ext cx="21556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0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Strategic, logical minds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35858" y="1874520"/>
            <a:ext cx="2521458" cy="1600200"/>
          </a:xfrm>
          <a:prstGeom prst="roundRect">
            <a:avLst>
              <a:gd name="adj" fmla="val 5143"/>
            </a:avLst>
          </a:prstGeom>
          <a:solidFill>
            <a:srgbClr val="EFFCFA"/>
          </a:solidFill>
          <a:ln w="12700">
            <a:solidFill>
              <a:srgbClr val="D7F5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8738" y="2011680"/>
            <a:ext cx="21556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68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Idealists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18738" y="2359152"/>
            <a:ext cx="21556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47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INFJ · INFP · ENFJ · ENFP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18738" y="2697480"/>
            <a:ext cx="21556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0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Empathetic, purpose-driven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31636" y="1874520"/>
            <a:ext cx="2521458" cy="1600200"/>
          </a:xfrm>
          <a:prstGeom prst="roundRect">
            <a:avLst>
              <a:gd name="adj" fmla="val 5143"/>
            </a:avLst>
          </a:prstGeom>
          <a:solidFill>
            <a:srgbClr val="EFFCFA"/>
          </a:solidFill>
          <a:ln w="12700">
            <a:solidFill>
              <a:srgbClr val="D7F5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4516" y="2011680"/>
            <a:ext cx="21556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68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Guardians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14516" y="2359152"/>
            <a:ext cx="21556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47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ISTJ · ISFJ · ESTJ · ESFJ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14516" y="2697480"/>
            <a:ext cx="21556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0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Practical and dependable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27414" y="1874520"/>
            <a:ext cx="2521458" cy="1600200"/>
          </a:xfrm>
          <a:prstGeom prst="roundRect">
            <a:avLst>
              <a:gd name="adj" fmla="val 5143"/>
            </a:avLst>
          </a:prstGeom>
          <a:solidFill>
            <a:srgbClr val="EFFCFA"/>
          </a:solidFill>
          <a:ln w="12700">
            <a:solidFill>
              <a:srgbClr val="D7F5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10294" y="2011680"/>
            <a:ext cx="21556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68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Adventurers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210294" y="2359152"/>
            <a:ext cx="21556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47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ISTP · ISFP · ESTP · ESFP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210294" y="2697480"/>
            <a:ext cx="21556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0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Bold, hands-on, adaptive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3749040"/>
            <a:ext cx="5486400" cy="2194560"/>
          </a:xfrm>
          <a:prstGeom prst="roundRect">
            <a:avLst>
              <a:gd name="adj" fmla="val 3750"/>
            </a:avLst>
          </a:prstGeom>
          <a:solidFill>
            <a:srgbClr val="EFFCFA"/>
          </a:solidFill>
          <a:ln w="12700">
            <a:solidFill>
              <a:srgbClr val="D7F5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" y="3895344"/>
            <a:ext cx="5084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68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of the 16 profiles includes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41248" y="4279392"/>
            <a:ext cx="5084064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 summary and two-part deep-dive into how the type thinks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Signature strengths and honest growth edges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Six matched career families as explorable tags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Related types and a “not sure? take the test” CTA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0" y="3749040"/>
            <a:ext cx="5148072" cy="2194560"/>
          </a:xfrm>
          <a:prstGeom prst="roundRect">
            <a:avLst>
              <a:gd name="adj" fmla="val 3750"/>
            </a:avLst>
          </a:prstGeom>
          <a:solidFill>
            <a:srgbClr val="FAF7F2"/>
          </a:solidFill>
          <a:ln w="12700">
            <a:solidFill>
              <a:srgbClr val="F0E8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01968" y="3895344"/>
            <a:ext cx="4745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68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Plus the 9 Enneagram types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601968" y="4279392"/>
            <a:ext cx="4745736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Organized by Head, Heart, and Body centers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Core desire and core fear for every type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Feeds directly from the Enneagram test result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All reachable from one explorer hub page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109728"/>
          </a:xfrm>
          <a:prstGeom prst="rect">
            <a:avLst/>
          </a:prstGeom>
          <a:solidFill>
            <a:srgbClr val="FE471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built-in content engine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908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0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Articles that earn search traffic and convert readers into test-takers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Career Garage — Personality &amp; Career Assessment Platform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0232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3453384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7F5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84248"/>
            <a:ext cx="3087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E47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CAREER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2240280"/>
            <a:ext cx="30876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Choose a Career That Actually Fits You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67784" y="1874520"/>
            <a:ext cx="3453384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7F5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0664" y="1984248"/>
            <a:ext cx="3087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E47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PERSONALITY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50664" y="2240280"/>
            <a:ext cx="30876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Introvert's Guide to Thriving in a Loud Workplace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95488" y="1874520"/>
            <a:ext cx="3453384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7F5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8368" y="1984248"/>
            <a:ext cx="3087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E47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RELATIONSHIPS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78368" y="2240280"/>
            <a:ext cx="30876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Opposites Attract — and Then Annoy Each Other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246120"/>
            <a:ext cx="3453384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7F5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355848"/>
            <a:ext cx="3087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E47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SCIENCE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" y="3611880"/>
            <a:ext cx="30876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Personality Tests Can and Can't Tell You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67784" y="3246120"/>
            <a:ext cx="3453384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7F5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50664" y="3355848"/>
            <a:ext cx="3087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E47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WELLBEING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50664" y="3611880"/>
            <a:ext cx="30876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Burnout Has a Personality: How Types Run Out of Fuel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095488" y="3246120"/>
            <a:ext cx="3453384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7F5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78368" y="3355848"/>
            <a:ext cx="3087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E47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78368" y="3611880"/>
            <a:ext cx="30876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Manager's Guide to Personality-Aware Teams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4892040"/>
            <a:ext cx="1090879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 full-length, original editorial pieces at launch — research-informed, practical, and written to rank for high-intent searches.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article closes with a test call-to-action, turning organic readers into engaged assessment users.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109728"/>
          </a:xfrm>
          <a:prstGeom prst="rect">
            <a:avLst/>
          </a:prstGeom>
          <a:solidFill>
            <a:srgbClr val="FE471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Career Garage for Teams — the revenue engine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908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0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Individuals test free; organizations pay for the tools around the tests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Career Garage — Personality &amp; Career Assessment Platform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0232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5120640" cy="868680"/>
          </a:xfrm>
          <a:prstGeom prst="roundRect">
            <a:avLst>
              <a:gd name="adj" fmla="val 9474"/>
            </a:avLst>
          </a:prstGeom>
          <a:solidFill>
            <a:srgbClr val="EFFCFA"/>
          </a:solidFill>
          <a:ln w="12700">
            <a:solidFill>
              <a:srgbClr val="D7F5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020824"/>
            <a:ext cx="4718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68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personality map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41248" y="2404872"/>
            <a:ext cx="4718304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whole team's working styles on one dashboard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2880360"/>
            <a:ext cx="5120640" cy="868680"/>
          </a:xfrm>
          <a:prstGeom prst="roundRect">
            <a:avLst>
              <a:gd name="adj" fmla="val 9474"/>
            </a:avLst>
          </a:prstGeom>
          <a:solidFill>
            <a:srgbClr val="EFFCFA"/>
          </a:solidFill>
          <a:ln w="12700">
            <a:solidFill>
              <a:srgbClr val="D7F5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3026664"/>
            <a:ext cx="4718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68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Facilitation guides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41248" y="3410712"/>
            <a:ext cx="4718304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Ready-to-run workshop scripts for managers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3886200"/>
            <a:ext cx="5120640" cy="868680"/>
          </a:xfrm>
          <a:prstGeom prst="roundRect">
            <a:avLst>
              <a:gd name="adj" fmla="val 9474"/>
            </a:avLst>
          </a:prstGeom>
          <a:solidFill>
            <a:srgbClr val="EFFCFA"/>
          </a:solidFill>
          <a:ln w="12700">
            <a:solidFill>
              <a:srgbClr val="D7F5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4032504"/>
            <a:ext cx="4718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68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Friction forecasts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41248" y="4416552"/>
            <a:ext cx="4718304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Pairwise style comparisons flag collisions early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4892040"/>
            <a:ext cx="5120640" cy="868680"/>
          </a:xfrm>
          <a:prstGeom prst="roundRect">
            <a:avLst>
              <a:gd name="adj" fmla="val 9474"/>
            </a:avLst>
          </a:prstGeom>
          <a:solidFill>
            <a:srgbClr val="EFFCFA"/>
          </a:solidFill>
          <a:ln w="12700">
            <a:solidFill>
              <a:srgbClr val="D7F5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5038344"/>
            <a:ext cx="4718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68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Manager playbooks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41248" y="5422392"/>
            <a:ext cx="4718304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Per-person feedback, delegation &amp; motivation tips</a:t>
            </a:r>
            <a:endParaRPr lang="en-US" sz="10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874520"/>
          <a:ext cx="548640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234440"/>
                <a:gridCol w="1463040"/>
                <a:gridCol w="15544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5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Starter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5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Team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47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Organization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54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Price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$0 forever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$6 / member / mo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Custom, annual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Members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Up to 5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Unlimited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Unlimited + SSO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C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Assessments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All 7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All 7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All 7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Team tools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Basic overview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Full toolkit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Full toolkit + org analytics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C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Support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Community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Dedicated manager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6035040" y="5120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70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Pricing shown as a demo model — fully adjustable per engagement.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109728"/>
          </a:xfrm>
          <a:prstGeom prst="rect">
            <a:avLst/>
          </a:prstGeom>
          <a:solidFill>
            <a:srgbClr val="FE471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data layer &amp; analytics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908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0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completed test becomes an anonymous, queryable data point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Career Garage — Personality &amp; Career Assessment Platform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0232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5394960" cy="1737360"/>
          </a:xfrm>
          <a:prstGeom prst="roundRect">
            <a:avLst>
              <a:gd name="adj" fmla="val 4737"/>
            </a:avLst>
          </a:prstGeom>
          <a:solidFill>
            <a:srgbClr val="EFFCFA"/>
          </a:solidFill>
          <a:ln w="12700">
            <a:solidFill>
              <a:srgbClr val="D7F5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020824"/>
            <a:ext cx="4992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68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MongoDB Atlas in production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2404872"/>
            <a:ext cx="499262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 are stored in a cloud database the moment a test is finished: test taken, outcome, percentage breakdown, timestamp. Validated server-side so the data stays clean.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794760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FAF7F2"/>
          </a:solidFill>
          <a:ln w="12700">
            <a:solidFill>
              <a:srgbClr val="F0E8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3941064"/>
            <a:ext cx="4992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68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Built-in stats API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1248" y="4325112"/>
            <a:ext cx="499262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Live taker counts shown on every results page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Top-5 outcome distribution per test on demand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Ready foundation for dashboards, trend reports,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and completion analytics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49440" y="2103120"/>
            <a:ext cx="4023360" cy="685800"/>
          </a:xfrm>
          <a:prstGeom prst="roundRect">
            <a:avLst>
              <a:gd name="adj" fmla="val 12000"/>
            </a:avLst>
          </a:prstGeom>
          <a:solidFill>
            <a:srgbClr val="EFFCFA"/>
          </a:solidFill>
          <a:ln w="12700">
            <a:solidFill>
              <a:srgbClr val="D7F5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0" y="210312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finishes test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732520" y="27614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E47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949440" y="3063240"/>
            <a:ext cx="4023360" cy="685800"/>
          </a:xfrm>
          <a:prstGeom prst="roundRect">
            <a:avLst>
              <a:gd name="adj" fmla="val 12000"/>
            </a:avLst>
          </a:prstGeom>
          <a:solidFill>
            <a:srgbClr val="EFFCFA"/>
          </a:solidFill>
          <a:ln w="12700">
            <a:solidFill>
              <a:srgbClr val="D7F5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306324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Scored in browser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732520" y="372160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E47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949440" y="4023360"/>
            <a:ext cx="4023360" cy="685800"/>
          </a:xfrm>
          <a:prstGeom prst="roundRect">
            <a:avLst>
              <a:gd name="adj" fmla="val 12000"/>
            </a:avLst>
          </a:prstGeom>
          <a:solidFill>
            <a:srgbClr val="1E8280"/>
          </a:solidFill>
          <a:ln w="12700">
            <a:solidFill>
              <a:srgbClr val="D7F5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0" y="402336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Anonymous summary saved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732520" y="468172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E47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949440" y="4983480"/>
            <a:ext cx="4023360" cy="685800"/>
          </a:xfrm>
          <a:prstGeom prst="roundRect">
            <a:avLst>
              <a:gd name="adj" fmla="val 12000"/>
            </a:avLst>
          </a:prstGeom>
          <a:solidFill>
            <a:srgbClr val="09272A"/>
          </a:solidFill>
          <a:ln w="12700">
            <a:solidFill>
              <a:srgbClr val="D7F5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0" y="498348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Aggregate insights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109728"/>
          </a:xfrm>
          <a:prstGeom prst="rect">
            <a:avLst/>
          </a:prstGeom>
          <a:solidFill>
            <a:srgbClr val="FE471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Privacy &amp; trust, by design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908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0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Positioning that today's users — and procurement teams — actually reward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Career Garage — Personality &amp; Career Assessment Platform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0232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5317236" cy="1783080"/>
          </a:xfrm>
          <a:prstGeom prst="roundRect">
            <a:avLst>
              <a:gd name="adj" fmla="val 4615"/>
            </a:avLst>
          </a:prstGeom>
          <a:solidFill>
            <a:srgbClr val="EFFCFA"/>
          </a:solidFill>
          <a:ln w="12700">
            <a:solidFill>
              <a:srgbClr val="D7F5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112264"/>
            <a:ext cx="49149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68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Scored in the browser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2496312"/>
            <a:ext cx="49149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Raw answers are never transmitted or stored. Only a computed, anonymous result summary reaches the database.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31636" y="1965960"/>
            <a:ext cx="5317236" cy="1783080"/>
          </a:xfrm>
          <a:prstGeom prst="roundRect">
            <a:avLst>
              <a:gd name="adj" fmla="val 4615"/>
            </a:avLst>
          </a:prstGeom>
          <a:solidFill>
            <a:srgbClr val="EFFCFA"/>
          </a:solidFill>
          <a:ln w="12700">
            <a:solidFill>
              <a:srgbClr val="D7F5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32804" y="2112264"/>
            <a:ext cx="49149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68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accounts, no identity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32804" y="2496312"/>
            <a:ext cx="49149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emails, names, or tracking identifiers attached to results. Nothing to breach, nothing to subpoena.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931920"/>
            <a:ext cx="5317236" cy="1783080"/>
          </a:xfrm>
          <a:prstGeom prst="roundRect">
            <a:avLst>
              <a:gd name="adj" fmla="val 4615"/>
            </a:avLst>
          </a:prstGeom>
          <a:solidFill>
            <a:srgbClr val="EFFCFA"/>
          </a:solidFill>
          <a:ln w="12700">
            <a:solidFill>
              <a:srgbClr val="D7F5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4078224"/>
            <a:ext cx="49149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68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Honest about the science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4462272"/>
            <a:ext cx="49149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platform says plainly what assessments can and can't predict — credibility that gated competitors give up.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31636" y="3931920"/>
            <a:ext cx="5317236" cy="1783080"/>
          </a:xfrm>
          <a:prstGeom prst="roundRect">
            <a:avLst>
              <a:gd name="adj" fmla="val 4615"/>
            </a:avLst>
          </a:prstGeom>
          <a:solidFill>
            <a:srgbClr val="EFFCFA"/>
          </a:solidFill>
          <a:ln w="12700">
            <a:solidFill>
              <a:srgbClr val="D7F5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32804" y="4078224"/>
            <a:ext cx="49149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68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Clear ethical lines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32804" y="4462272"/>
            <a:ext cx="49149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Explicit guidance against using results for hiring screening; assessments framed for insight, not selection.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109728"/>
          </a:xfrm>
          <a:prstGeom prst="rect">
            <a:avLst/>
          </a:prstGeom>
          <a:solidFill>
            <a:srgbClr val="FE471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 the hood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908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0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modern, low-maintenance stack that scales cheaply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Career Garage — Personality &amp; Career Assessment Platform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0232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3453384" cy="1874520"/>
          </a:xfrm>
          <a:prstGeom prst="roundRect">
            <a:avLst>
              <a:gd name="adj" fmla="val 4390"/>
            </a:avLst>
          </a:prstGeom>
          <a:solidFill>
            <a:srgbClr val="EFFCFA"/>
          </a:solidFill>
          <a:ln w="12700">
            <a:solidFill>
              <a:srgbClr val="D7F5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020824"/>
            <a:ext cx="3051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68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16 + React 19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" y="2404872"/>
            <a:ext cx="305104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Latest app-router framework with Turbopack builds; 45 pages pre-rendered as static HTML for instant loads and strong SEO.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67784" y="1874520"/>
            <a:ext cx="3453384" cy="1874520"/>
          </a:xfrm>
          <a:prstGeom prst="roundRect">
            <a:avLst>
              <a:gd name="adj" fmla="val 4390"/>
            </a:avLst>
          </a:prstGeom>
          <a:solidFill>
            <a:srgbClr val="FAF7F2"/>
          </a:solidFill>
          <a:ln w="12700">
            <a:solidFill>
              <a:srgbClr val="F0E8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68952" y="2020824"/>
            <a:ext cx="3051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68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TypeScript everywhere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68952" y="2404872"/>
            <a:ext cx="305104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Fully typed content models for tests, types, and articles — adding a new assessment is a data change, not a rebuild.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95488" y="1874520"/>
            <a:ext cx="3453384" cy="1874520"/>
          </a:xfrm>
          <a:prstGeom prst="roundRect">
            <a:avLst>
              <a:gd name="adj" fmla="val 4390"/>
            </a:avLst>
          </a:prstGeom>
          <a:solidFill>
            <a:srgbClr val="EFFCFA"/>
          </a:solidFill>
          <a:ln w="12700">
            <a:solidFill>
              <a:srgbClr val="D7F5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96656" y="2020824"/>
            <a:ext cx="3051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68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Tailwind CSS 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96656" y="2404872"/>
            <a:ext cx="305104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tokenized design system (brand teal + coral) applied consistently across every page and component.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931920"/>
            <a:ext cx="3453384" cy="1874520"/>
          </a:xfrm>
          <a:prstGeom prst="roundRect">
            <a:avLst>
              <a:gd name="adj" fmla="val 4390"/>
            </a:avLst>
          </a:prstGeom>
          <a:solidFill>
            <a:srgbClr val="FAF7F2"/>
          </a:solidFill>
          <a:ln w="12700">
            <a:solidFill>
              <a:srgbClr val="F0E8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4078224"/>
            <a:ext cx="3051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68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MongoDB Atlas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1248" y="4462272"/>
            <a:ext cx="305104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Managed cloud database for results and analytics; connection pooling and env-based secrets already configured.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67784" y="3931920"/>
            <a:ext cx="3453384" cy="1874520"/>
          </a:xfrm>
          <a:prstGeom prst="roundRect">
            <a:avLst>
              <a:gd name="adj" fmla="val 4390"/>
            </a:avLst>
          </a:prstGeom>
          <a:solidFill>
            <a:srgbClr val="EFFCFA"/>
          </a:solidFill>
          <a:ln w="12700">
            <a:solidFill>
              <a:srgbClr val="D7F5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68952" y="4078224"/>
            <a:ext cx="3051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68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SVG icon system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68952" y="4462272"/>
            <a:ext cx="305104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 hand-built icons + CSS animation library — no stock photos or videos anywhere, so zero licensing exposure.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95488" y="3931920"/>
            <a:ext cx="3453384" cy="1874520"/>
          </a:xfrm>
          <a:prstGeom prst="roundRect">
            <a:avLst>
              <a:gd name="adj" fmla="val 4390"/>
            </a:avLst>
          </a:prstGeom>
          <a:solidFill>
            <a:srgbClr val="FAF7F2"/>
          </a:solidFill>
          <a:ln w="12700">
            <a:solidFill>
              <a:srgbClr val="F0E8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6656" y="4078224"/>
            <a:ext cx="3051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68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anywhere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96656" y="4462272"/>
            <a:ext cx="305104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on any Node host (Vercel, container, VPS). Configured port, environment secrets, and production build all ready.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109728"/>
          </a:xfrm>
          <a:prstGeom prst="rect">
            <a:avLst/>
          </a:prstGeom>
          <a:solidFill>
            <a:srgbClr val="FE471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Suggested live demo 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908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0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Eight minutes, end to end — run it straight from this deck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Career Garage — Personality &amp; Career Assessment Platform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0232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868680" cy="822960"/>
          </a:xfrm>
          <a:prstGeom prst="roundRect">
            <a:avLst>
              <a:gd name="adj" fmla="val 10000"/>
            </a:avLst>
          </a:prstGeom>
          <a:solidFill>
            <a:srgbClr val="09272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74520"/>
            <a:ext cx="868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5BDB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0:00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45920" y="187452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Homepage  —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0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Brand, animated hero, popular tests, how-it-works — set the scene.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1874520"/>
            <a:ext cx="868680" cy="822960"/>
          </a:xfrm>
          <a:prstGeom prst="roundRect">
            <a:avLst>
              <a:gd name="adj" fmla="val 10000"/>
            </a:avLst>
          </a:prstGeom>
          <a:solidFill>
            <a:srgbClr val="09272A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1874520"/>
            <a:ext cx="868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5BDB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0:45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269480" y="187452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catalog  —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0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 the 7 assessments organized by Personality / Career / Relationships.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898648"/>
            <a:ext cx="868680" cy="822960"/>
          </a:xfrm>
          <a:prstGeom prst="roundRect">
            <a:avLst>
              <a:gd name="adj" fmla="val 10000"/>
            </a:avLst>
          </a:prstGeom>
          <a:solidFill>
            <a:srgbClr val="09272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98648"/>
            <a:ext cx="868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5BDB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1:30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45920" y="2898648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Take a test live  —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0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the Workstyle Compass (8 questions) — let the client answer.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2898648"/>
            <a:ext cx="868680" cy="822960"/>
          </a:xfrm>
          <a:prstGeom prst="roundRect">
            <a:avLst>
              <a:gd name="adj" fmla="val 10000"/>
            </a:avLst>
          </a:prstGeom>
          <a:solidFill>
            <a:srgbClr val="09272A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2898648"/>
            <a:ext cx="868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5BDB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3:30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269480" y="2898648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 page  —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0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Animated breakdown, live taker count pulled from the database.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922776"/>
            <a:ext cx="868680" cy="822960"/>
          </a:xfrm>
          <a:prstGeom prst="roundRect">
            <a:avLst>
              <a:gd name="adj" fmla="val 10000"/>
            </a:avLst>
          </a:prstGeom>
          <a:solidFill>
            <a:srgbClr val="09272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922776"/>
            <a:ext cx="868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5BDB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4:30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45920" y="3922776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explorer  —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0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a full profile (e.g. INFJ): strengths, growth, careers.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63640" y="3922776"/>
            <a:ext cx="868680" cy="822960"/>
          </a:xfrm>
          <a:prstGeom prst="roundRect">
            <a:avLst>
              <a:gd name="adj" fmla="val 10000"/>
            </a:avLst>
          </a:prstGeom>
          <a:solidFill>
            <a:srgbClr val="09272A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3922776"/>
            <a:ext cx="868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5BDB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5:30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269480" y="3922776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Articles  —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0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content engine and its test call-to-actions.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4946904"/>
            <a:ext cx="868680" cy="822960"/>
          </a:xfrm>
          <a:prstGeom prst="roundRect">
            <a:avLst>
              <a:gd name="adj" fmla="val 10000"/>
            </a:avLst>
          </a:prstGeom>
          <a:solidFill>
            <a:srgbClr val="09272A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946904"/>
            <a:ext cx="868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5BDB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6:00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645920" y="4946904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Teams  —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0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B2B features and the three pricing tiers.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63640" y="4946904"/>
            <a:ext cx="868680" cy="822960"/>
          </a:xfrm>
          <a:prstGeom prst="roundRect">
            <a:avLst>
              <a:gd name="adj" fmla="val 10000"/>
            </a:avLst>
          </a:prstGeom>
          <a:solidFill>
            <a:srgbClr val="09272A"/>
          </a:solidFill>
          <a:ln/>
        </p:spPr>
      </p:sp>
      <p:sp>
        <p:nvSpPr>
          <p:cNvPr id="29" name="Text 27"/>
          <p:cNvSpPr/>
          <p:nvPr/>
        </p:nvSpPr>
        <p:spPr>
          <a:xfrm>
            <a:off x="6263640" y="4946904"/>
            <a:ext cx="868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5BDB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7:00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269480" y="4946904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data layer  —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0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 a saved result in MongoDB Atlas — proof it's production-real.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40080" y="6126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C68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URL: http://localhost:3014  (or your hosted domain)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109728"/>
          </a:xfrm>
          <a:prstGeom prst="rect">
            <a:avLst/>
          </a:prstGeom>
          <a:solidFill>
            <a:srgbClr val="FE471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 it yours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908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0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platform is built to be rebranded, extended, and monetized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Career Garage — Personality &amp; Career Assessment Platform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0232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EFFCFA"/>
          </a:solidFill>
          <a:ln w="12700">
            <a:solidFill>
              <a:srgbClr val="D7F5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020824"/>
            <a:ext cx="4992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68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Available now (fast turnaround)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2404872"/>
            <a:ext cx="4992624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White-label branding: name, logo, palette, domain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Add or edit assessments via typed content files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Adjust pricing tiers and packaging per market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Custom articles and localized copy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97764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FAF7F2"/>
          </a:solidFill>
          <a:ln w="12700">
            <a:solidFill>
              <a:srgbClr val="F0E8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4123944"/>
            <a:ext cx="4992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68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Natural next phases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1248" y="4507992"/>
            <a:ext cx="4992624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Accounts + saved result history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Paid premium reports (PDF exports)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Team dashboard with real invites &amp; roles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Email capture / CRM &amp; analytics integrations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Multi-language support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1874520"/>
            <a:ext cx="5120640" cy="4023360"/>
          </a:xfrm>
          <a:prstGeom prst="roundRect">
            <a:avLst>
              <a:gd name="adj" fmla="val 2045"/>
            </a:avLst>
          </a:prstGeom>
          <a:solidFill>
            <a:srgbClr val="09272A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5BDB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Ways to engage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75120" y="2606040"/>
            <a:ext cx="4617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D7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License the platform as-is and launch under your brand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D7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Commission a tailored build for your niche (coaching, HR, education)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D7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it as your content &amp; lead-generation engine with team upsells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92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828800"/>
            <a:ext cx="4572000" cy="4572000"/>
          </a:xfrm>
          <a:prstGeom prst="ellipse">
            <a:avLst/>
          </a:prstGeom>
          <a:solidFill>
            <a:srgbClr val="1A4546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389120"/>
            <a:ext cx="4023360" cy="4023360"/>
          </a:xfrm>
          <a:prstGeom prst="ellipse">
            <a:avLst/>
          </a:prstGeom>
          <a:solidFill>
            <a:srgbClr val="1A4546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084832"/>
            <a:ext cx="822960" cy="128016"/>
          </a:xfrm>
          <a:prstGeom prst="rect">
            <a:avLst/>
          </a:prstGeom>
          <a:solidFill>
            <a:srgbClr val="FE471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2860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Let's put it in front of your users.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3375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7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product is built, tested, and running. The demo takes eight minutes.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7F5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rebrand takes days, not months.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6634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Mosanna Jalal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FF9D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mjiraqui322@gmail.com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B70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CAREER GARAGE  ·  CLIENT DEMO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Career Garage — Client Demo Deck</dc:title>
  <dc:subject>PptxGenJS Presentation</dc:subject>
  <dc:creator>Career Garage</dc:creator>
  <cp:lastModifiedBy>Career Garage</cp:lastModifiedBy>
  <cp:revision>1</cp:revision>
  <dcterms:created xsi:type="dcterms:W3CDTF">2026-07-06T08:20:40Z</dcterms:created>
  <dcterms:modified xsi:type="dcterms:W3CDTF">2026-07-06T08:20:40Z</dcterms:modified>
</cp:coreProperties>
</file>